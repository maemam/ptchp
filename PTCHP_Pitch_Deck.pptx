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</c:v>
                </c:pt>
              </c:strCache>
            </c:strRef>
          </c:tx>
          <c:spPr>
            <a:solidFill>
              <a:srgbClr val="C8553D"/>
            </a:solidFill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68</c:v>
                </c:pt>
                <c:pt idx="1">
                  <c:v>70</c:v>
                </c:pt>
                <c:pt idx="2">
                  <c:v>71</c:v>
                </c:pt>
                <c:pt idx="3">
                  <c:v>73</c:v>
                </c:pt>
                <c:pt idx="4">
                  <c:v>72</c:v>
                </c:pt>
                <c:pt idx="5">
                  <c:v>74</c:v>
                </c:pt>
                <c:pt idx="6">
                  <c:v>75</c:v>
                </c:pt>
                <c:pt idx="7">
                  <c:v>76</c:v>
                </c:pt>
                <c:pt idx="8">
                  <c:v>77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Complaints (000s)</c:v>
                </c:pt>
              </c:strCache>
            </c:strRef>
          </c:tx>
          <c:spPr>
            <a:solidFill>
              <a:srgbClr val="2E7D7A"/>
            </a:solidFill>
            <a:ln w="38100" cap="flat">
              <a:solidFill>
                <a:srgbClr val="2E7D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7A"/>
              </a:solidFill>
              <a:ln w="9525" cap="flat">
                <a:solidFill>
                  <a:srgbClr val="2E7D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42</c:v>
                </c:pt>
                <c:pt idx="1">
                  <c:v>40</c:v>
                </c:pt>
                <c:pt idx="2">
                  <c:v>39</c:v>
                </c:pt>
                <c:pt idx="3">
                  <c:v>36</c:v>
                </c:pt>
                <c:pt idx="4">
                  <c:v>37</c:v>
                </c:pt>
                <c:pt idx="5">
                  <c:v>33</c:v>
                </c:pt>
                <c:pt idx="6">
                  <c:v>31</c:v>
                </c:pt>
                <c:pt idx="7">
                  <c:v>29</c:v>
                </c:pt>
                <c:pt idx="8">
                  <c:v>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F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Delay</c:v>
                  </c:pt>
                  <c:pt idx="1">
                    <c:v>Long Wait</c:v>
                  </c:pt>
                  <c:pt idx="2">
                    <c:v>Overcrowding</c:v>
                  </c:pt>
                  <c:pt idx="3">
                    <c:v>AC Issue</c:v>
                  </c:pt>
                  <c:pt idx="4">
                    <c:v>Driver Behavior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3200</c:v>
                </c:pt>
                <c:pt idx="1">
                  <c:v>2450</c:v>
                </c:pt>
                <c:pt idx="2">
                  <c:v>1900</c:v>
                </c:pt>
                <c:pt idx="3">
                  <c:v>1300</c:v>
                </c:pt>
                <c:pt idx="4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F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7315200" cy="7315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657600"/>
            <a:ext cx="3200400" cy="320040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5303520"/>
            <a:ext cx="457200" cy="457200"/>
          </a:xfrm>
          <a:prstGeom prst="ellipse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 DUBAI  ·  INNOVATION / BUSINESS TRACK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PTCHP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Transport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Happiness Platform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complaints to predictive customer happiness — across every bus, taxi, and marine service in Dubai.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 ·  Website Portal  ·  Operations Intelligence  ·  AI Engine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voice is everywhere — and nowhere.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 receives feedback across CRM, call centers, app, website, WhatsApp, SMS, email, social media, stations and onboard. The data is rich — but fragmented. Issues surface late, repeat often, and trust is hard to rebuild after.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157984" cy="31089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34640"/>
            <a:ext cx="73152" cy="310896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1546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7947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425196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split across 13+ touchpoints with inconsistent classification.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79776" y="2834640"/>
            <a:ext cx="2157984" cy="31089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79776" y="2834640"/>
            <a:ext cx="73152" cy="310896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31546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08376" y="37947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triage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008376" y="425196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routing delays first response and inflates SLA breaches.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102352" y="2834640"/>
            <a:ext cx="2157984" cy="31089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02352" y="2834640"/>
            <a:ext cx="73152" cy="310896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31546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30952" y="37947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330952" y="425196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root causes recur — route, station, vehicle — without closure.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424928" y="2834640"/>
            <a:ext cx="2157984" cy="31089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24928" y="2834640"/>
            <a:ext cx="73152" cy="310896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315468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53528" y="37947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653528" y="425196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in social/calls is seen after, not before, a spike.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747504" y="2834640"/>
            <a:ext cx="2157984" cy="31089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747504" y="2834640"/>
            <a:ext cx="73152" cy="310896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4" y="315468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976104" y="37947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trust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9976104" y="4251960"/>
            <a:ext cx="17007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can't see who owns their case or what happens next.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3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move from reactive feedback handling to predictive, personalized customer happiness management.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Four layers. Every touchpoint.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7772400" cy="96012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299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928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Experience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website portal + omnichannel intake (WhatsApp, SMS, email, social, stations, onboard).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852928"/>
            <a:ext cx="7772400" cy="96012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99816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96265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&amp; Data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3101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CRM data model fed by AI: Arabic/English sentiment, classification, forecasting, root cause.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922776"/>
            <a:ext cx="7772400" cy="960120"/>
          </a:xfrm>
          <a:prstGeom prst="rect">
            <a:avLst/>
          </a:prstGeom>
          <a:solidFill>
            <a:srgbClr val="8C3923"/>
          </a:solidFill>
          <a:ln w="12700">
            <a:solidFill>
              <a:srgbClr val="8C39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966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32504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&amp; Decisions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379976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BI–style dashboards, smart routing, SLA risk, response and service-improvement recommendations.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4992624"/>
            <a:ext cx="7772400" cy="960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3951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1023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Trust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1371600" y="544982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Human-in-the-loop, explainable AI, audit trail, accessibility, privacy, bilingual support.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595360" y="1783080"/>
            <a:ext cx="3200400" cy="4224528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86968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COVERED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869680" y="2286000"/>
            <a:ext cx="2834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Buses</a:t>
            </a:r>
            <a:endParaRPr lang="en-US" sz="13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· Intercity · Feeder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&amp; Limousine</a:t>
            </a:r>
            <a:endParaRPr lang="en-US" sz="13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 · Airport Taxi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Transport</a:t>
            </a:r>
            <a:endParaRPr lang="en-US" sz="13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Ferry · Abra · Water Taxi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trusted digital companion for every trip.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42976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440680" cy="105156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99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0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17320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Real-time, on-the-go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297180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journey card with delay &amp; crowding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feedback from current trip, voice-to-text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in Arabic &amp; English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tracking with SLA &amp; next-update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recovery messages and proactive alerts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persona-aware recommendations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440680" cy="42976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737360"/>
            <a:ext cx="5440680" cy="105156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2996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20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7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PORTAL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223760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Transparent, accessible, deep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29400" y="297180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dashboard: cases, alerts, surveys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hub with smart classification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history and audit trail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insights &amp; reliability scores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surveys feeding the CHI score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WCAG-aligned accessibility for all users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6172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INTAKE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108960" y="61722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 ·  Call Center  ·  WhatsApp  ·  SMS  ·  Email  ·  Social  ·  Station QR  ·  Onboard QR  ·  Happiness Centers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triages, predicts, and explains.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842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(AR/EN)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63040" y="2423160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from −1 to +1 with emotion tags: frustration, urgency, safety, accessibility.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4256" y="1783080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62856" y="20116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1031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0096" y="19842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Auto-classification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340096" y="2423160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type, service, root cause, department, priority — with confidence and explanation.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11312" y="1783080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39912" y="20116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1031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17152" y="19842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routing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217152" y="2423160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+ root cause + location + repeat history → correct owner the first time.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730752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395935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5079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93192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463040" y="4370832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volume, delay risk, SLA breach risk and call-center load — by route and hour.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4256" y="3730752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62856" y="395935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4050792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0096" y="393192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5340096" y="4370832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in complaints or negative social sentiment surface before they escalate.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211312" y="3730752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39912" y="395935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8553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050792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17152" y="393192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9217152" y="4370832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agent responses + service-improvement actions, owner and impact attached.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457200" y="5852160"/>
            <a:ext cx="11274552" cy="6400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58521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 ·  HUMAN-IN-THE-LOOP  ·  CONFIDENCE-SCORED  ·  AUDITED  ·  BILINGUAL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personas, five journeys, one platform.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measures and improves the experience for each group separately — same service, different lived realities.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221992" cy="40233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2221992" cy="118872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256032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6118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Commuter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43891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Delays, long waits, overcrowding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512064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WIN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5349240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crowding alerts and reliable transfers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825496" y="2331720"/>
            <a:ext cx="2221992" cy="40233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25496" y="2331720"/>
            <a:ext cx="2221992" cy="118872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560320"/>
            <a:ext cx="731520" cy="7315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16936" y="36118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Tourist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008376" y="416052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008376" y="43891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fares &amp; routes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008376" y="512064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WIN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008376" y="5349240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assistant, landmark navigation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193792" y="2331720"/>
            <a:ext cx="2221992" cy="40233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193792" y="2331720"/>
            <a:ext cx="2221992" cy="1188720"/>
          </a:xfrm>
          <a:prstGeom prst="rect">
            <a:avLst/>
          </a:prstGeom>
          <a:solidFill>
            <a:srgbClr val="8C3923"/>
          </a:solidFill>
          <a:ln w="12700">
            <a:solidFill>
              <a:srgbClr val="8C392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2560320"/>
            <a:ext cx="731520" cy="7315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85232" y="36118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 of Determination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376672" y="416052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5376672" y="43891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stations, ramp issues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376672" y="512064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WIN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376672" y="5349240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routing, priority-routed cases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562088" y="2331720"/>
            <a:ext cx="2221992" cy="40233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562088" y="2331720"/>
            <a:ext cx="2221992" cy="11887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324" y="2560320"/>
            <a:ext cx="731520" cy="7315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53528" y="36118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744968" y="416052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744968" y="43891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crowding, punctuality risk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744968" y="512064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WIN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744968" y="5349240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Saved-route alerts, lightweight feedback tags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9930384" y="2331720"/>
            <a:ext cx="2221992" cy="40233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930384" y="2331720"/>
            <a:ext cx="2221992" cy="1188720"/>
          </a:xfrm>
          <a:prstGeom prst="rect">
            <a:avLst/>
          </a:prstGeom>
          <a:solidFill>
            <a:srgbClr val="5C7A89"/>
          </a:solidFill>
          <a:ln w="12700">
            <a:solidFill>
              <a:srgbClr val="5C7A89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5620" y="2560320"/>
            <a:ext cx="731520" cy="7315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0021824" y="36118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Worker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10113264" y="416052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0113264" y="43891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early/late trips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10113264" y="512064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WIN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0113264" y="5349240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reliability alerts, SMS fallback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LIFECYCLE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Happiness across the whole journey, not just the moment of complaint.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57600" cy="457200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3657600" cy="141732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0574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TRIP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planning &amp; route confidence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delays and crowding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Accessibility-first routing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80560" y="1783080"/>
            <a:ext cx="3657600" cy="457200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80560" y="1783080"/>
            <a:ext cx="3657600" cy="141732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0574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TRIP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33832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alerts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feedback (voice + photo)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+ human handoff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accessibility escalation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503920" y="1783080"/>
            <a:ext cx="3657600" cy="457200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03920" y="1783080"/>
            <a:ext cx="3657600" cy="1417320"/>
          </a:xfrm>
          <a:prstGeom prst="rect">
            <a:avLst/>
          </a:prstGeom>
          <a:solidFill>
            <a:srgbClr val="8C3923"/>
          </a:solidFill>
          <a:ln w="12700">
            <a:solidFill>
              <a:srgbClr val="8C392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77824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05740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7824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TRIP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869680" y="33832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rating &amp; CSAT/NPS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case tracking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recovery messages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closure &amp; follow-up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206240" y="3977640"/>
            <a:ext cx="109728" cy="10972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325112" y="3977640"/>
            <a:ext cx="109728" cy="10972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29600" y="3977640"/>
            <a:ext cx="109728" cy="10972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348472" y="3977640"/>
            <a:ext cx="109728" cy="109728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DASHBOARD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department, one source of truth.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97480" cy="12801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73152" cy="128016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Happiness Index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1783080"/>
            <a:ext cx="2697480" cy="12801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1783080"/>
            <a:ext cx="73152" cy="128016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47872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783080"/>
            <a:ext cx="2697480" cy="12801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783080"/>
            <a:ext cx="73152" cy="1280160"/>
          </a:xfrm>
          <a:prstGeom prst="rect">
            <a:avLst/>
          </a:prstGeom>
          <a:solidFill>
            <a:srgbClr val="8C3923"/>
          </a:solidFill>
          <a:ln w="12700">
            <a:solidFill>
              <a:srgbClr val="8C39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C3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−42%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9944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Complaint Rate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43416" y="1783080"/>
            <a:ext cx="2697480" cy="128016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43416" y="1783080"/>
            <a:ext cx="73152" cy="12801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2016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2.1×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272016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First Response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57607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TREND vs COMPLAINT VOLUME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0080" y="3703320"/>
          <a:ext cx="53949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6400800" y="3246120"/>
            <a:ext cx="533095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CAUSES (BUS)</a:t>
            </a:r>
            <a:endParaRPr lang="en-US" sz="10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6583680" y="3703320"/>
          <a:ext cx="5029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figures. Live dashboards drill down by service, department, touchpoint, location, persona and time.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Customer Happiness Index (CHI).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composite, weighted score that combines what customers feel, what operations deliver, and how often issues recur — on a 0–100 scale.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(AI)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496312"/>
            <a:ext cx="2743200" cy="164592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2496312"/>
            <a:ext cx="2743200" cy="164592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2377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53512"/>
            <a:ext cx="2743200" cy="164592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953512"/>
            <a:ext cx="2743200" cy="164592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834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10712"/>
            <a:ext cx="2743200" cy="164592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410712"/>
            <a:ext cx="2057400" cy="164592"/>
          </a:xfrm>
          <a:prstGeom prst="rect">
            <a:avLst/>
          </a:prstGeom>
          <a:solidFill>
            <a:srgbClr val="8C3923"/>
          </a:solidFill>
          <a:ln w="12700">
            <a:solidFill>
              <a:srgbClr val="8C39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3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3867912"/>
            <a:ext cx="2743200" cy="164592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867912"/>
            <a:ext cx="2057400" cy="164592"/>
          </a:xfrm>
          <a:prstGeom prst="rect">
            <a:avLst/>
          </a:prstGeom>
          <a:solidFill>
            <a:srgbClr val="8C3923"/>
          </a:solidFill>
          <a:ln w="12700">
            <a:solidFill>
              <a:srgbClr val="8C39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3749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C3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4325112"/>
            <a:ext cx="2743200" cy="164592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4325112"/>
            <a:ext cx="1371600" cy="164592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4206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Reliability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4782312"/>
            <a:ext cx="2743200" cy="164592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4782312"/>
            <a:ext cx="1371600" cy="164592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4663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7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5120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Rating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91840" y="5239512"/>
            <a:ext cx="2743200" cy="164592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239512"/>
            <a:ext cx="685800" cy="164592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5120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5577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Complaint Penalty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91840" y="5696712"/>
            <a:ext cx="2743200" cy="164592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5696712"/>
            <a:ext cx="685800" cy="164592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5577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0" y="2377440"/>
            <a:ext cx="4251960" cy="36576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CITY BUS · MONTH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297180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76.3</a:t>
            </a:r>
            <a:endParaRPr lang="en-US" sz="8400" dirty="0"/>
          </a:p>
        </p:txBody>
      </p:sp>
      <p:sp>
        <p:nvSpPr>
          <p:cNvPr id="41" name="Text 39"/>
          <p:cNvSpPr/>
          <p:nvPr/>
        </p:nvSpPr>
        <p:spPr>
          <a:xfrm>
            <a:off x="7772400" y="4343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C9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100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772400" y="470916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5DE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8E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80–89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70–79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9F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60–69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    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families of measurable outcomes.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466344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3657600" cy="914400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3852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84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Happiness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3152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happiness index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4087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Post-resolution &amp; post-trip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4956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to recommend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5824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vs negative split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80560" y="1737360"/>
            <a:ext cx="3657600" cy="466344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0560" y="1737360"/>
            <a:ext cx="3657600" cy="91440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38528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984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&amp; Operations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475488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 / 1k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75488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passenger volume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548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 time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754880" y="4087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via AI triage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75488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%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754880" y="4956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breach early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7548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reopened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754880" y="5824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closure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503920" y="1737360"/>
            <a:ext cx="3657600" cy="466344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503920" y="1737360"/>
            <a:ext cx="3657600" cy="914400"/>
          </a:xfrm>
          <a:prstGeom prst="rect">
            <a:avLst/>
          </a:prstGeom>
          <a:solidFill>
            <a:srgbClr val="8C3923"/>
          </a:solidFill>
          <a:ln w="12700">
            <a:solidFill>
              <a:srgbClr val="8C3923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938528"/>
            <a:ext cx="502920" cy="5029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418320" y="1984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&amp; AI</a:t>
            </a:r>
            <a:endParaRPr lang="en-US" sz="1900" dirty="0"/>
          </a:p>
        </p:txBody>
      </p:sp>
      <p:sp>
        <p:nvSpPr>
          <p:cNvPr id="33" name="Text 28"/>
          <p:cNvSpPr/>
          <p:nvPr/>
        </p:nvSpPr>
        <p:spPr>
          <a:xfrm>
            <a:off x="8778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impact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778240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use &amp; passenger volume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77824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acc.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8778240" y="4087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confirmed by agents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77824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accuracy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8778240" y="4956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correct owner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778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adopt.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8778240" y="5824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acted on by teams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after-the-fact to ahead-of-time.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volume forecast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07568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case load by route, root cause and channel — staff and stage proactively.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6060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risk prediction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9443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Headway, demand, weather and history → early alerts for customers and ops.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474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 breach prediction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8130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at risk surface before the deadline, with the right owner already alerted.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343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Reopen prediction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6817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 caught at resolution, not after the customer comes back unhappy.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5257800"/>
            <a:ext cx="502920" cy="5029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5212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&amp; spike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555040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complaint clusters or social-sentiment spikes trigger incident review.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80960" y="1783080"/>
            <a:ext cx="4114800" cy="429768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SCENARIO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5528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Evening peak. Route X.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955280" y="29718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delay risk and a sentiment dip on social media for Route X.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receive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WhatsApp alert with a lower-risk alternative route.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receives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Route-level alert routed to Bus Operations + Planning, with a recommended schedule review and impact estimate.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we stand behind. Trust by design.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3712464" cy="73152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6712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6712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17320" y="2606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cases — safety, accessibility, compensation, low-confidence — require human approval.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4256" y="1874520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4256" y="1874520"/>
            <a:ext cx="3712464" cy="73152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94376" y="216712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294376" y="2606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classification, route and priority shows why: keywords, similar cases, confidence.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11312" y="1874520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11312" y="1874520"/>
            <a:ext cx="3712464" cy="73152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6712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71432" y="216712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Accessibility-first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9171432" y="2606040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WCAG-aligned, screen reader, voice input, priority routing for accessibility-impact cases.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822192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822192"/>
            <a:ext cx="3712464" cy="73152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11480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Bilingual by design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417320" y="4553712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and English across the app, web, AI assistant, sentiment and topic models.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4256" y="3822192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34256" y="3822192"/>
            <a:ext cx="3712464" cy="73152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411480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94376" y="411480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&amp; consent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5294376" y="4553712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encryption, data minimization, retention controls, consent prompts.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211312" y="3822192"/>
            <a:ext cx="3712464" cy="178308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11312" y="3822192"/>
            <a:ext cx="3712464" cy="73152"/>
          </a:xfrm>
          <a:prstGeom prst="rect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11480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71432" y="411480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9171432" y="4553712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version, inputs, outputs, confidence, human override and outcome — all logged.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28016" cy="128016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phases. Value from Phase 1.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508760" y="4023360"/>
            <a:ext cx="9174175" cy="0"/>
          </a:xfrm>
          <a:prstGeom prst="line">
            <a:avLst/>
          </a:prstGeom>
          <a:noFill/>
          <a:ln w="25400">
            <a:solidFill>
              <a:srgbClr val="E8DF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703320"/>
            <a:ext cx="640080" cy="6400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Integration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526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case data, taxonomy, KPIs, baseline 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4023360"/>
            <a:ext cx="1653464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2264" y="3703320"/>
            <a:ext cx="640080" cy="640080"/>
          </a:xfrm>
          <a:prstGeom prst="ellipse">
            <a:avLst/>
          </a:prstGeom>
          <a:solidFill>
            <a:srgbClr val="8C3923"/>
          </a:solidFill>
          <a:ln w="12700">
            <a:solidFill>
              <a:srgbClr val="8C39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2264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05024" y="2194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Classification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Sentiment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05024" y="4526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Auto-triage in AR/EN, agent-approved responses.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22344" y="4023360"/>
            <a:ext cx="1653464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75808" y="3703320"/>
            <a:ext cx="640080" cy="640080"/>
          </a:xfrm>
          <a:prstGeom prst="ellipse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5808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98568" y="2194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Website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98568" y="4526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hub, case tracking, AI assistant.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15888" y="4023360"/>
            <a:ext cx="1653464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9351" y="3703320"/>
            <a:ext cx="640080" cy="640080"/>
          </a:xfrm>
          <a:prstGeom prst="ellipse">
            <a:avLst/>
          </a:prstGeom>
          <a:solidFill>
            <a:srgbClr val="5C7A89"/>
          </a:solidFill>
          <a:ln w="12700">
            <a:solidFill>
              <a:srgbClr val="5C7A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9351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92111" y="2194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92111" y="4526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Forecasts, delay risk, SLA breach, smart alerts.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09431" y="4023360"/>
            <a:ext cx="1653464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2895" y="3703320"/>
            <a:ext cx="640080" cy="64008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62895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85655" y="21945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Omnichannel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85655" y="45262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WhatsApp/SMS/social loop, persona simulation.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what RTA already has: 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CRM, call center, mobile app, website, surveys, social listening and operational systems — extended, not replaced.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1153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 ·  RTA Dubai Innovation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486400"/>
            <a:ext cx="2011680" cy="201168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PTCHP WINS THE TRACK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customer voice to public-transport adoption — measurably.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206240" y="2788920"/>
            <a:ext cx="914400" cy="6400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2788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57800" y="2816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Relevance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57800" y="308152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fit with RTA happiness, service quality and adoption priorities — across bus, taxi and marine.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3483864"/>
            <a:ext cx="914400" cy="6400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348386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35112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Impact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37764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plus a defined KPI framework: complaint rate, SLA, response/resolution times, AI accuracy, adoption.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4178808"/>
            <a:ext cx="914400" cy="6400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4178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5780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44714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build on existing CRM and channels; Phase 1 delivers value before AI rollout.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4873752"/>
            <a:ext cx="914400" cy="6400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4873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49011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&amp; Trust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51663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case tracking, accessibility-first, bilingual, service recovery — visible to every customer.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5568696"/>
            <a:ext cx="914400" cy="6400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556869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55961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Effectiveness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586130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classification, routing, forecasting, anomaly, recommendations — all explainable and audited.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PTCHP — A trusted digital companion for customers. Operational intelligence for teams. Measurable progress for leadership.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PTCHP — Public Transport Customer Happiness Platform</dc:title>
  <dc:subject>PptxGenJS Presentation</dc:subject>
  <dc:creator>PTCHP Submission</dc:creator>
  <cp:lastModifiedBy>PTCHP Submission</cp:lastModifiedBy>
  <cp:revision>1</cp:revision>
  <dcterms:created xsi:type="dcterms:W3CDTF">2026-05-03T20:13:50Z</dcterms:created>
  <dcterms:modified xsi:type="dcterms:W3CDTF">2026-05-03T20:13:50Z</dcterms:modified>
</cp:coreProperties>
</file>